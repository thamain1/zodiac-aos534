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91440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ZODIAC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D0"/>
                </a:solidFill>
                <a:latin typeface="Calibri"/>
              </a:rPr>
              <a:t>AOS534  |  Operational Truth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03320"/>
            <a:ext cx="4572000" cy="36576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0D8E8"/>
                </a:solidFill>
                <a:latin typeface="Calibri"/>
              </a:rPr>
              <a:t>Intelligence + Evidence + Context = Defensible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CC0"/>
                </a:solidFill>
                <a:latin typeface="Calibri"/>
              </a:rPr>
              <a:t>4wardmotion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A90"/>
                </a:solidFill>
                <a:latin typeface="Calibri"/>
              </a:rPr>
              <a:t>SIMULATED ENVIRONMENT  |  INVESTOR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Security teams are drowning in alerts.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8D0"/>
                </a:solidFill>
                <a:latin typeface="Calibri"/>
              </a:rPr>
              <a:t>But alerts are not truth.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  <a:latin typeface="Calibri"/>
              </a:rPr>
              <a:t>  Tools generate noise — not validated, defensible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  <a:latin typeface="Calibri"/>
              </a:rPr>
              <a:t>  Compliance demands proof — not dashboards.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741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  <a:latin typeface="Calibri"/>
              </a:rPr>
              <a:t>  Boards ask “what happened?” — operators cannot answer in plain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96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  <a:latin typeface="Calibri"/>
              </a:rPr>
              <a:t>  Incidents are hard to replay — evidence chains are broken or missing.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251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  <a:latin typeface="Calibri"/>
              </a:rPr>
              <a:t>  Every new tool adds another source of truth — with no layer to reconcile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66360"/>
            <a:ext cx="11247120" cy="822960"/>
          </a:xfrm>
          <a:prstGeom prst="rect">
            <a:avLst/>
          </a:prstGeom>
          <a:solidFill>
            <a:srgbClr val="121C3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30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8E8"/>
                </a:solidFill>
                <a:latin typeface="Calibri"/>
              </a:rPr>
              <a:t>The gap between “we got an alert” and “we know what happened and can prove it” costs organizations millions — in breaches, compliance failures, and lost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OUR CORE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2286000"/>
          </a:xfrm>
          <a:prstGeom prst="rect">
            <a:avLst/>
          </a:prstGeom>
          <a:solidFill>
            <a:srgbClr val="121C35"/>
          </a:solidFill>
          <a:ln w="2540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“AOS534 does NOT detect issues —
you identify issues by combining
Intelligence + Evidence + Context.”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D0"/>
                </a:solidFill>
                <a:latin typeface="Calibri"/>
              </a:rPr>
              <a:t>This is not a detection platform. It is a truth and governance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  <a:latin typeface="Calibri"/>
              </a:rPr>
              <a:t>Every signal is validated — not just collected.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90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  <a:latin typeface="Calibri"/>
              </a:rPr>
              <a:t>Every decision is supported by traceable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978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  <a:latin typeface="Calibri"/>
              </a:rPr>
              <a:t>Every output is explainable to operators and executives alike.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WHAT IS ZODIAC (AOS534)?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Truth, Evidence &amp; Decision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0D8E8"/>
                </a:solidFill>
                <a:latin typeface="Calibri"/>
              </a:rPr>
              <a:t>that sits above and across your existing security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5303520" cy="411480"/>
          </a:xfrm>
          <a:prstGeom prst="rect">
            <a:avLst/>
          </a:prstGeom>
          <a:solidFill>
            <a:srgbClr val="00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  ZODIAC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57400"/>
            <a:ext cx="5303520" cy="411480"/>
          </a:xfrm>
          <a:prstGeom prst="rect">
            <a:avLst/>
          </a:prstGeom>
          <a:solidFill>
            <a:srgbClr val="3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8483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  ZODIAC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A governance-first truth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An evidence-driven decision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A replayable, auditable intelligence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Court-defensible — full chain of custody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A governance overlay across any toolset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CC0"/>
                </a:solidFill>
                <a:latin typeface="Calibri"/>
              </a:rPr>
              <a:t>  ✘  A SIEM or XDR replacement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71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CC0"/>
                </a:solidFill>
                <a:latin typeface="Calibri"/>
              </a:rPr>
              <a:t>  ✘  A generic SOC alert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37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CC0"/>
                </a:solidFill>
                <a:latin typeface="Calibri"/>
              </a:rPr>
              <a:t>  ✘  An AI-takes-over fantasy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CC0"/>
                </a:solidFill>
                <a:latin typeface="Calibri"/>
              </a:rPr>
              <a:t>  ✘  A vendor replacement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CC0"/>
                </a:solidFill>
                <a:latin typeface="Calibri"/>
              </a:rPr>
              <a:t>  ✘  A bright cyberpunk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5-Stage Governance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CC0"/>
                </a:solidFill>
                <a:latin typeface="Calibri"/>
              </a:rPr>
              <a:t>Every screen, report, and architecture decision aligns to this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103120" cy="3474720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146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Signal Intake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246120"/>
            <a:ext cx="19202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Ingest signals from distributed agents and integrations across your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1920240"/>
            <a:ext cx="2103120" cy="3474720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5146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Correlation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3246120"/>
            <a:ext cx="19202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Link signals across time, space, entity, and behavior into coherent event chains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5" y="1920240"/>
            <a:ext cx="2103120" cy="3474720"/>
          </a:xfrm>
          <a:prstGeom prst="rect">
            <a:avLst/>
          </a:prstGeom>
          <a:solidFill>
            <a:srgbClr val="121C35"/>
          </a:solidFill>
          <a:ln w="1905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5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5" y="25146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Truth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5" y="3246120"/>
            <a:ext cx="19202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Validate inferred patterns against authoritative sources — algorithm-driven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21423" y="1920240"/>
            <a:ext cx="2103120" cy="3474720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2863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3" y="25146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5468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3" y="3246120"/>
            <a:ext cx="19202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Present validated evidence for human or automated decisioning with full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8551" y="1920240"/>
            <a:ext cx="2103120" cy="3474720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1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1" y="25146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Evidence &amp; Replay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5468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1" y="3246120"/>
            <a:ext cx="19202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Preserve chain-of-custody — enable forensic replay and full timeline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14015" y="33832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D0"/>
                </a:solidFill>
                <a:latin typeface="Calibr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3" y="33832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D0"/>
                </a:solidFill>
                <a:latin typeface="Calibr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1" y="33832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D0"/>
                </a:solidFill>
                <a:latin typeface="Calibr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399" y="33832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D0"/>
                </a:solidFill>
                <a:latin typeface="Calibri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8A90"/>
                </a:solidFill>
                <a:latin typeface="Calibri"/>
              </a:rPr>
              <a:t>Signal Intake → Correlation → Truth Validation → Decision → Evidence &amp; Replay  |  Backbone of every Zodiac screen and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THE TRUTH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Algorithm-Driven Truth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D0"/>
                </a:solidFill>
                <a:latin typeface="Calibri"/>
              </a:rPr>
              <a:t>Proprietary Scoring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Every object carries a Truth Score (0–100)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401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a Confidence Score (0–1.0) — both algorithm-driven.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3580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Scores reflect the gap between: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4670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•  Declared State — what a system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59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•  Verified State — what AOS534 can 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6849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7939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Alignment State reveals: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9028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•  Aligned — declared matches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0118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•  Misaligned — gap 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•  Insufficient Evidence — cannot yet 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D0"/>
                </a:solidFill>
                <a:latin typeface="Calibri"/>
              </a:rPr>
              <a:t>Truth Score Bands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148840"/>
            <a:ext cx="5120640" cy="548640"/>
          </a:xfrm>
          <a:prstGeom prst="rect">
            <a:avLst/>
          </a:prstGeom>
          <a:solidFill>
            <a:srgbClr val="121C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2219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85–100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2402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834640"/>
            <a:ext cx="5120640" cy="548640"/>
          </a:xfrm>
          <a:prstGeom prst="rect">
            <a:avLst/>
          </a:prstGeom>
          <a:solidFill>
            <a:srgbClr val="121C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9077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60–84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926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PARTIAL / WATCH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520440"/>
            <a:ext cx="5120640" cy="548640"/>
          </a:xfrm>
          <a:prstGeom prst="rect">
            <a:avLst/>
          </a:prstGeom>
          <a:solidFill>
            <a:srgbClr val="121C3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935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30–59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11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DEGRADED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206240"/>
            <a:ext cx="5120640" cy="548640"/>
          </a:xfrm>
          <a:prstGeom prst="rect">
            <a:avLst/>
          </a:prstGeom>
          <a:solidFill>
            <a:srgbClr val="121C35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2793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0–29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29767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CRITICAL / UNKNOWN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418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CC0"/>
                </a:solidFill>
                <a:latin typeface="Calibri"/>
              </a:rPr>
              <a:t>The scoring algorithms are proprietary to AOS534. Zodiac does not disclose algorithm internals — it exposes outcomes, evidence chains, and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INTEGRATION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Zodiac does not replace your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D0"/>
                </a:solidFill>
                <a:latin typeface="Calibri"/>
              </a:rPr>
              <a:t>It validates truth across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  <a:latin typeface="Calibri"/>
              </a:rPr>
              <a:t>Zodiac integrates with existing security infrastructure as a governance overlay: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2651760" cy="256032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Splunk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D0"/>
                </a:solidFill>
                <a:latin typeface="Calibri"/>
              </a:rPr>
              <a:t>SIEM / Log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Ingest normalized events, validate against verified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606040"/>
            <a:ext cx="2651760" cy="256032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IBM QRadar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127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D0"/>
                </a:solidFill>
                <a:latin typeface="Calibri"/>
              </a:rPr>
              <a:t>SIEM / Threat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3584448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Cross-validate alerts, truth-score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79" y="2606040"/>
            <a:ext cx="2651760" cy="256032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Wazuh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27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D0"/>
                </a:solidFill>
                <a:latin typeface="Calibri"/>
              </a:rPr>
              <a:t>HIDS / EDR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584448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Endpoint alignment, workstation truth scoring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606040"/>
            <a:ext cx="2651760" cy="256032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Any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27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D0"/>
                </a:solidFill>
                <a:latin typeface="Calibri"/>
              </a:rPr>
              <a:t>Open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2044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3584448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Any signal source with structured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11247120" cy="685800"/>
          </a:xfrm>
          <a:prstGeom prst="rect">
            <a:avLst/>
          </a:prstGeom>
          <a:solidFill>
            <a:srgbClr val="003D42"/>
          </a:solidFill>
          <a:ln w="1270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132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  <a:latin typeface="Calibri"/>
              </a:rPr>
              <a:t>Customer environments remain customer-owned. Zodiac is a governance overlay — it unifies, scrutinizes, and validates. It does not take over, replace, or assume vendor responsibility.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THE AGENT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12 Purpose-Built Governance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CC0"/>
                </a:solidFill>
                <a:latin typeface="Calibri"/>
              </a:rPr>
              <a:t>Not mascots. Not generic AI. Purpose-built platform functions with defined roles, permissions, and governance boundaries.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Argus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414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Identity &amp; Trust Authority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96596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0574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414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Governance Reasoning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96596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574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Bedrock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414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Hardware / Substrate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96596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0574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Aegis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4414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Network Governance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91839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7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Apollo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67327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Truth &amp; Evidence Authority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291839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38327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Conduit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767327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Secure Logging &amp; Forensic Correlation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3291839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38327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Atlas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67327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Topology &amp; Dependency Mapping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19" y="3291839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338327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Chronicle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767327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Narrative Reporting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1772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0915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93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Explainability &amp; Human Guidance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461772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470915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Helm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093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Threat Intelligence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59" y="461772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70915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Canon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093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External Threat Hunting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19" y="4617720"/>
            <a:ext cx="2788920" cy="1216152"/>
          </a:xfrm>
          <a:prstGeom prst="rect">
            <a:avLst/>
          </a:prstGeom>
          <a:solidFill>
            <a:srgbClr val="121C35"/>
          </a:solidFill>
          <a:ln w="9525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470915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D0"/>
                </a:solidFill>
                <a:latin typeface="Calibri"/>
              </a:rPr>
              <a:t>Relic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5093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Historical Memory &amp; Evidence Recall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PLATFORM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14-Screen Governance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490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01  Mission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87451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Governance overlay explanation, agent constellation, architecture diagram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490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02  Environment Truth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87451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Interactive topology — centerpiece of the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1490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03  Identity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874519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AD/Entra IAM, RBAC, terminated users, privilege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87752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66090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04  Cloud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044952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Tenant posture, cloud IAM drift, declared vs verified cloud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587752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66090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05  Network / Substrate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044952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Inventory, posture matrix, config drift, route anomalies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587752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66090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06  Advanced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3044952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Inline vs proxy, fail-open/fail-closed, API identity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58184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83133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07  AI Agent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215384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Agent roster, trust boundaries, comms graph, governance 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758184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383133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08  Evidence /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4215384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Ingestion pipeline, artifact list, chain-of-custody, replay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758184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7" y="383133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09  Reporting / Storyboards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4215384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Operator + executive reports, before/after 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928616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500176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10  Secure Channel 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5385816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mTLS/PQC/SPIFFE/SPIRE service-to-service mapping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928616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500176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11  Policies / Alerts / Config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5385816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All policy tabs, alert routing, realistic config forms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4928616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0727" y="500176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12  CP / DP Health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7" y="5385816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Control and data plane service health + metrics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099048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61722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13  Scenario Playback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6556248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All 8 scenarios with timeline, events, logs, evidence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6099048"/>
            <a:ext cx="3749039" cy="1097280"/>
          </a:xfrm>
          <a:prstGeom prst="rect">
            <a:avLst/>
          </a:prstGeom>
          <a:solidFill>
            <a:srgbClr val="121C35"/>
          </a:solidFill>
          <a:ln w="635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0248" y="61722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14  Roadmap / Next Waves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8" y="6556248"/>
            <a:ext cx="35661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  <a:latin typeface="Calibri"/>
              </a:rPr>
              <a:t>Future capabilities — clearly labeled Roadmap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KEY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8 Governance Scenarios — Built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CC0"/>
                </a:solidFill>
                <a:latin typeface="Calibri"/>
              </a:rPr>
              <a:t>Every scenario includes: timeline playback, live logs, score deltas, evidence bundle, and storyboard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Scenario 1  |  Terminated User — Escalated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96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Detects and validates when a terminated user account retains or gains elevated privileges after offboarding.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27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Scenario 2  |  Directory / Workstation Misalignment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021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Identifies when a workstation registered state diverges from its directory record — a common attack vector.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33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Scenario 3  |  Cloud IAM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07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Surfaces gaps between declared cloud IAM policy and verified runtime state across tenants.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7492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389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Scenario 4  |  Network Appliance Multi-Vendor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138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Validates configuration consistency across heterogeneous network appliances — routers, firewalls, SD-WAN.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05740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21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Scenario 5  |  Advanced API: Inline vs Proxy Difference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96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Demonstrates fail-open edge vs fail-closed core behavior and validates API identity binding.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06324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127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Scenario 6  |  AI Governance + Evidence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021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Traces an AI agent action from signal intake through human approval and evidence preservation.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6908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33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Scenario 7  |  Storage Governance + Runtime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07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Validates storage access posture against declared policy — surfaces unauthorized runtime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074920"/>
            <a:ext cx="5394960" cy="914400"/>
          </a:xfrm>
          <a:prstGeom prst="rect">
            <a:avLst/>
          </a:prstGeom>
          <a:solidFill>
            <a:srgbClr val="121C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1389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Scenario 8  |  Supply-Chain Truth Scoring (Roadmap)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138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  <a:latin typeface="Calibri"/>
              </a:rPr>
              <a:t>Preview of future supply-chain truth scoring — clearly labeled as Roadmap capability.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Governance Gap is a Billion-Dollar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651760" cy="2011680"/>
          </a:xfrm>
          <a:prstGeom prst="rect">
            <a:avLst/>
          </a:prstGeom>
          <a:solidFill>
            <a:srgbClr val="121C35"/>
          </a:solidFill>
          <a:ln w="1905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D0"/>
                </a:solidFill>
                <a:latin typeface="Calibri"/>
              </a:rPr>
              <a:t>¢68B+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Global cybersecurity governance &amp; GRC market by 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91640"/>
            <a:ext cx="2651760" cy="2011680"/>
          </a:xfrm>
          <a:prstGeom prst="rect">
            <a:avLst/>
          </a:prstGeom>
          <a:solidFill>
            <a:srgbClr val="121C35"/>
          </a:solidFill>
          <a:ln w="1905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0136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D0"/>
                </a:solidFill>
                <a:latin typeface="Calibri"/>
              </a:rPr>
              <a:t>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06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Of organizations say they cannot defensibly prove compliance posture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91640"/>
            <a:ext cx="2651760" cy="2011680"/>
          </a:xfrm>
          <a:prstGeom prst="rect">
            <a:avLst/>
          </a:prstGeom>
          <a:solidFill>
            <a:srgbClr val="121C35"/>
          </a:solidFill>
          <a:ln w="1905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0136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D0"/>
                </a:solidFill>
                <a:latin typeface="Calibri"/>
              </a:rPr>
              <a:t>¢4.5M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606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Average cost of a data breach (IBM 2024) — evidence gaps amplify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691640"/>
            <a:ext cx="2651760" cy="2011680"/>
          </a:xfrm>
          <a:prstGeom prst="rect">
            <a:avLst/>
          </a:prstGeom>
          <a:solidFill>
            <a:srgbClr val="121C35"/>
          </a:solidFill>
          <a:ln w="1905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80136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D0"/>
                </a:solidFill>
                <a:latin typeface="Calibri"/>
              </a:rPr>
              <a:t>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606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Faster incident resolution with validated evidence chains vs alert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D0"/>
                </a:solidFill>
                <a:latin typeface="Calibri"/>
              </a:rPr>
              <a:t>Why Now?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8E8"/>
                </a:solidFill>
                <a:latin typeface="Calibri"/>
              </a:rPr>
              <a:t>•  AI agent proliferation is creating unvalidated, unaudited decision chains — governance is lagging dangerously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8E8"/>
                </a:solidFill>
                <a:latin typeface="Calibri"/>
              </a:rPr>
              <a:t>•  Regulatory pressure (CMMC, DORA, NIS2, SEC) demands evidence-based compliance — dashboards are no longer enough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8E8"/>
                </a:solidFill>
                <a:latin typeface="Calibri"/>
              </a:rPr>
              <a:t>•  Multi-vendor environments make truth reconciliation a full-time problem no single tool solves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8E8"/>
                </a:solidFill>
                <a:latin typeface="Calibri"/>
              </a:rPr>
              <a:t>•  Board-level accountability for cyber posture now requires defensible, replayable proof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4-Phase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97480" cy="4846320"/>
          </a:xfrm>
          <a:prstGeom prst="rect">
            <a:avLst/>
          </a:prstGeom>
          <a:solidFill>
            <a:srgbClr val="121C35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9748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E1A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Mission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072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Environment Truth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8269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Identity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581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Reporting / Storyboards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33671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Scenario Playback 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63040"/>
            <a:ext cx="2697480" cy="4846320"/>
          </a:xfrm>
          <a:prstGeom prst="rect">
            <a:avLst/>
          </a:prstGeom>
          <a:solidFill>
            <a:srgbClr val="121C35"/>
          </a:solidFill>
          <a:ln w="25400">
            <a:solidFill>
              <a:srgbClr val="0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463040"/>
            <a:ext cx="2697480" cy="64008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E1A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Core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3317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Network / Substrate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8072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Advanced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28269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Evidence / 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7581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Control / Data Plane Health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463040"/>
            <a:ext cx="2697480" cy="4846320"/>
          </a:xfrm>
          <a:prstGeom prst="rect">
            <a:avLst/>
          </a:prstGeom>
          <a:solidFill>
            <a:srgbClr val="121C3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463040"/>
            <a:ext cx="26974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E1A"/>
                </a:solidFill>
                <a:latin typeface="Calibri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Extended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23317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Secure Channel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28072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Policies / Alerts /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328269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AI Agent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581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Cloud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463040"/>
            <a:ext cx="2697480" cy="4846320"/>
          </a:xfrm>
          <a:prstGeom prst="rect">
            <a:avLst/>
          </a:prstGeom>
          <a:solidFill>
            <a:srgbClr val="121C3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1463040"/>
            <a:ext cx="26974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7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E1A"/>
                </a:solidFill>
                <a:latin typeface="Calibri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7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Polish &amp;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23317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Roadmap / Next Waves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28072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Additional scenarios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19" y="328269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Investor narrative refinement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37581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  •  Full demo mode polish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0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Are Building. What We Need.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D0"/>
                </a:solidFill>
                <a:latin typeface="Calibri"/>
              </a:rPr>
              <a:t>What We Are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A production-grade governance truth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Full simulator for investor and grant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779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Proprietary algorithm-driven truth scoring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101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12-agent architecture with defined governance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1246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Chain-of-custody evidence system (court-defensible)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Executive + operator dual-mode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71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  ✔  Full scenario playback with timeline and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D0"/>
                </a:solidFill>
                <a:latin typeface="Calibri"/>
              </a:rPr>
              <a:t>What We Need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5303520" cy="114300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762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D0"/>
                </a:solidFill>
                <a:latin typeface="Calibri"/>
              </a:rPr>
              <a:t>Investment / Grant 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60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To accelerate Phase 1–3 build and bring the full platform simulator to market-ready state.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401568"/>
            <a:ext cx="5303520" cy="114300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474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D0"/>
                </a:solidFill>
                <a:latin typeface="Calibri"/>
              </a:rPr>
              <a:t>Strategic Pilot Partners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587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Security and compliance-driven enterprises to validate governance use cases with real environments.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700016"/>
            <a:ext cx="5303520" cy="1143000"/>
          </a:xfrm>
          <a:prstGeom prst="rect">
            <a:avLst/>
          </a:prstGeom>
          <a:solidFill>
            <a:srgbClr val="121C35"/>
          </a:solidFill>
          <a:ln w="12700">
            <a:solidFill>
              <a:srgbClr val="008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7731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D0"/>
                </a:solidFill>
                <a:latin typeface="Calibri"/>
              </a:rPr>
              <a:t>Channel &amp; Integration Partners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572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8"/>
                </a:solidFill>
                <a:latin typeface="Calibri"/>
              </a:rPr>
              <a:t>Splunk, QRadar, Wazuh ecosystem partners to deepen integration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00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228600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ZODIAC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D0"/>
                </a:solidFill>
                <a:latin typeface="Calibri"/>
              </a:rPr>
              <a:t>AOS534  |  Operational Truth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5029200" cy="36576"/>
          </a:xfrm>
          <a:prstGeom prst="rect">
            <a:avLst/>
          </a:prstGeom>
          <a:solidFill>
            <a:srgbClr val="00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  <a:latin typeface="Calibri"/>
              </a:rPr>
              <a:t>“AOS534 combines intelligence + evidence +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  <a:latin typeface="Calibri"/>
              </a:rPr>
              <a:t>to produce defensible truth.”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4wardmotion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A90"/>
                </a:solidFill>
                <a:latin typeface="Calibri"/>
              </a:rPr>
              <a:t>SIMULATED ENVIRONMENT  |  INVESTOR / GRANT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